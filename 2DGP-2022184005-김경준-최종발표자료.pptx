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</p:sldIdLst>
  <p:sldSz cx="24384000" cy="13716000"/>
  <p:notesSz cx="6858000" cy="9144000"/>
  <p:embeddedFontLst>
    <p:embeddedFont>
      <p:font typeface="paybooc Medium"/>
      <p:bold r:id="rId9"/>
    </p:embeddedFont>
    <p:embeddedFont>
      <p:font typeface="Noto Sans CJK KR DemiLight"/>
      <p:regular r:id="rId10"/>
    </p:embeddedFont>
    <p:embeddedFont>
      <p:font typeface="paybooc ExtraBold"/>
      <p:bold r:id="rId11"/>
    </p:embeddedFont>
    <p:embeddedFont>
      <p:font typeface="paybooc Bold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2.fntdata" Type="http://schemas.openxmlformats.org/officeDocument/2006/relationships/font"/><Relationship Id="rId11" Target="fonts/font3.fntdata" Type="http://schemas.openxmlformats.org/officeDocument/2006/relationships/font"/><Relationship Id="rId12" Target="fonts/font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1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DF4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318000" y="8674100"/>
            <a:ext cx="15760700" cy="889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84400" y="304800"/>
            <a:ext cx="254000" cy="82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25800" y="304800"/>
            <a:ext cx="2540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54500" y="304800"/>
            <a:ext cx="2540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283200" y="304800"/>
            <a:ext cx="2540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11900" y="304800"/>
            <a:ext cx="2540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945600" y="304800"/>
            <a:ext cx="254000" cy="825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470400" y="8902700"/>
            <a:ext cx="15443200" cy="431800"/>
          </a:xfrm>
          <a:prstGeom prst="rect">
            <a:avLst/>
          </a:prstGeom>
        </p:spPr>
        <p:txBody>
          <a:bodyPr anchor="t" rtlCol="false" lIns="0" tIns="3048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373737"/>
                </a:solidFill>
                <a:ea typeface="Noto Sans CJK KR DemiLight"/>
              </a:rPr>
              <a:t>한국공학대학교</a:t>
            </a:r>
            <a:r>
              <a:rPr lang="en-US" sz="2400" b="false" i="false" u="none" strike="noStrike">
                <a:solidFill>
                  <a:srgbClr val="373737"/>
                </a:solidFill>
                <a:latin typeface="Noto Sans CJK KR DemiLight"/>
              </a:rPr>
              <a:t> </a:t>
            </a:r>
            <a:r>
              <a:rPr lang="ko-KR" sz="2400" b="false" i="false" u="none" strike="noStrike">
                <a:solidFill>
                  <a:srgbClr val="373737"/>
                </a:solidFill>
                <a:ea typeface="Noto Sans CJK KR DemiLight"/>
              </a:rPr>
              <a:t>게임공학과</a:t>
            </a:r>
            <a:r>
              <a:rPr lang="en-US" sz="2400" b="false" i="false" u="none" strike="noStrike">
                <a:solidFill>
                  <a:srgbClr val="373737"/>
                </a:solidFill>
                <a:latin typeface="Noto Sans CJK KR DemiLight"/>
              </a:rPr>
              <a:t>    |    2022184005    |    </a:t>
            </a:r>
            <a:r>
              <a:rPr lang="ko-KR" sz="2400" b="false" i="false" u="none" strike="noStrike">
                <a:solidFill>
                  <a:srgbClr val="373737"/>
                </a:solidFill>
                <a:ea typeface="Noto Sans CJK KR DemiLight"/>
              </a:rPr>
              <a:t>김경준</a:t>
            </a:r>
            <a:r>
              <a:rPr lang="en-US" sz="2400" b="false" i="false" u="none" strike="noStrike">
                <a:solidFill>
                  <a:srgbClr val="373737"/>
                </a:solidFill>
                <a:latin typeface="Noto Sans CJK KR DemiLight"/>
              </a:rPr>
              <a:t>    |   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62300" y="4343400"/>
            <a:ext cx="18059400" cy="4267200"/>
          </a:xfrm>
          <a:prstGeom prst="rect">
            <a:avLst/>
          </a:prstGeom>
        </p:spPr>
        <p:txBody>
          <a:bodyPr anchor="t" rtlCol="false" lIns="0" tIns="77046" rIns="0" bIns="0"/>
          <a:lstStyle/>
          <a:p>
            <a:pPr algn="ctr" lvl="0">
              <a:lnSpc>
                <a:spcPct val="107899"/>
              </a:lnSpc>
            </a:pPr>
            <a:r>
              <a:rPr lang="en" sz="12133" b="false" i="false" u="none" strike="noStrike">
                <a:solidFill>
                  <a:srgbClr val="90A4A5"/>
                </a:solidFill>
                <a:latin typeface="paybooc Medium"/>
              </a:rPr>
              <a:t>2D Game Programming</a:t>
            </a:r>
          </a:p>
          <a:p>
            <a:pPr algn="ctr" lvl="0">
              <a:lnSpc>
                <a:spcPct val="107899"/>
              </a:lnSpc>
            </a:pPr>
            <a:r>
              <a:rPr lang="ko-KR" sz="12133" b="false" i="false" u="none" strike="noStrike">
                <a:solidFill>
                  <a:srgbClr val="373737"/>
                </a:solidFill>
                <a:ea typeface="paybooc Medium"/>
              </a:rPr>
              <a:t>프로젝트</a:t>
            </a:r>
            <a:r>
              <a:rPr lang="en-US" sz="12133" b="false" i="false" u="none" strike="noStrike">
                <a:solidFill>
                  <a:srgbClr val="373737"/>
                </a:solidFill>
                <a:latin typeface="paybooc Medium"/>
              </a:rPr>
              <a:t> </a:t>
            </a:r>
            <a:r>
              <a:rPr lang="ko-KR" sz="12133" b="false" i="false" u="none" strike="noStrike">
                <a:solidFill>
                  <a:srgbClr val="373737"/>
                </a:solidFill>
                <a:ea typeface="paybooc Medium"/>
              </a:rPr>
              <a:t>최종</a:t>
            </a:r>
            <a:r>
              <a:rPr lang="en-US" sz="12133" b="false" i="false" u="none" strike="noStrike">
                <a:solidFill>
                  <a:srgbClr val="373737"/>
                </a:solidFill>
                <a:latin typeface="paybooc Medium"/>
              </a:rPr>
              <a:t> </a:t>
            </a:r>
            <a:r>
              <a:rPr lang="ko-KR" sz="12133" b="false" i="false" u="none" strike="noStrike">
                <a:solidFill>
                  <a:srgbClr val="373737"/>
                </a:solidFill>
                <a:ea typeface="paybooc Medium"/>
              </a:rPr>
              <a:t>발표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2DFD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41500" y="1320800"/>
            <a:ext cx="20701000" cy="1384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84400" y="304800"/>
            <a:ext cx="2540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25800" y="304800"/>
            <a:ext cx="2540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54500" y="304800"/>
            <a:ext cx="2540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283200" y="304800"/>
            <a:ext cx="2540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11900" y="304800"/>
            <a:ext cx="2540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945600" y="304800"/>
            <a:ext cx="254000" cy="8255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4470400" y="1473200"/>
            <a:ext cx="15798800" cy="12573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ctr" lvl="0">
              <a:lnSpc>
                <a:spcPct val="99600"/>
              </a:lnSpc>
            </a:pPr>
            <a:r>
              <a:rPr lang="ko-KR" sz="6400" b="false" i="false" u="none" strike="noStrike">
                <a:solidFill>
                  <a:srgbClr val="373737"/>
                </a:solidFill>
                <a:ea typeface="paybooc Bold"/>
              </a:rPr>
              <a:t>개발</a:t>
            </a:r>
            <a:r>
              <a:rPr lang="en-US" sz="6400" b="false" i="false" u="none" strike="noStrike">
                <a:solidFill>
                  <a:srgbClr val="373737"/>
                </a:solidFill>
                <a:latin typeface="paybooc Bold"/>
              </a:rPr>
              <a:t> </a:t>
            </a:r>
            <a:r>
              <a:rPr lang="ko-KR" sz="6400" b="false" i="false" u="none" strike="noStrike">
                <a:solidFill>
                  <a:srgbClr val="373737"/>
                </a:solidFill>
                <a:ea typeface="paybooc Bold"/>
              </a:rPr>
              <a:t>진척도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95500" y="1549400"/>
            <a:ext cx="1016000" cy="990600"/>
          </a:xfrm>
          <a:prstGeom prst="rect">
            <a:avLst/>
          </a:prstGeom>
        </p:spPr>
        <p:txBody>
          <a:bodyPr anchor="t" rtlCol="false" lIns="0" tIns="64347" rIns="0" bIns="0"/>
          <a:lstStyle/>
          <a:p>
            <a:pPr algn="ctr" lvl="0">
              <a:lnSpc>
                <a:spcPct val="99600"/>
              </a:lnSpc>
            </a:pPr>
            <a:r>
              <a:rPr lang="en" sz="5066" b="false" i="false" u="none" strike="noStrike">
                <a:solidFill>
                  <a:srgbClr val="FFFFFF"/>
                </a:solidFill>
                <a:latin typeface="paybooc ExtraBold"/>
              </a:rPr>
              <a:t>01</a:t>
            </a:r>
          </a:p>
        </p:txBody>
      </p: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2374900" y="3238500"/>
          <a:ext cx="19939000" cy="8636000"/>
        </p:xfrm>
        <a:graphic>
          <a:graphicData uri="http://schemas.openxmlformats.org/drawingml/2006/table">
            <a:tbl>
              <a:tblPr/>
              <a:tblGrid>
                <a:gridCol w="5635467"/>
                <a:gridCol w="6414859"/>
                <a:gridCol w="3943464"/>
                <a:gridCol w="3943464"/>
              </a:tblGrid>
              <a:tr h="59067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367" b="false" i="false" u="none" strike="noStrike">
                          <a:solidFill>
                            <a:srgbClr val="FFFFFF"/>
                          </a:solidFill>
                          <a:ea typeface="S-Core Dream 5 Medium"/>
                        </a:rPr>
                        <a:t>내용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E4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367" b="false" i="false" u="none" strike="noStrike">
                          <a:solidFill>
                            <a:srgbClr val="FFFFFF"/>
                          </a:solidFill>
                          <a:ea typeface="S-Core Dream 5 Medium"/>
                        </a:rPr>
                        <a:t>목표</a:t>
                      </a:r>
                      <a:r>
                        <a:rPr lang="en-US" sz="2367" b="false" i="false" u="none" strike="noStrike">
                          <a:solidFill>
                            <a:srgbClr val="FFFFFF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67" b="false" i="false" u="none" strike="noStrike">
                          <a:solidFill>
                            <a:srgbClr val="FFFFFF"/>
                          </a:solidFill>
                          <a:ea typeface="S-Core Dream 5 Medium"/>
                        </a:rPr>
                        <a:t>범위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E4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367" b="false" i="false" u="none" strike="noStrike">
                          <a:solidFill>
                            <a:srgbClr val="FFFFFF"/>
                          </a:solidFill>
                          <a:ea typeface="S-Core Dream 5 Medium"/>
                        </a:rPr>
                        <a:t>실제</a:t>
                      </a:r>
                      <a:r>
                        <a:rPr lang="en-US" sz="2367" b="false" i="false" u="none" strike="noStrike">
                          <a:solidFill>
                            <a:srgbClr val="FFFFFF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67" b="false" i="false" u="none" strike="noStrike">
                          <a:solidFill>
                            <a:srgbClr val="FFFFFF"/>
                          </a:solidFill>
                          <a:ea typeface="S-Core Dream 5 Medium"/>
                        </a:rPr>
                        <a:t>개발</a:t>
                      </a:r>
                      <a:r>
                        <a:rPr lang="en-US" sz="2367" b="false" i="false" u="none" strike="noStrike">
                          <a:solidFill>
                            <a:srgbClr val="FFFFFF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67" b="false" i="false" u="none" strike="noStrike">
                          <a:solidFill>
                            <a:srgbClr val="FFFFFF"/>
                          </a:solidFill>
                          <a:ea typeface="S-Core Dream 5 Medium"/>
                        </a:rPr>
                        <a:t>완료</a:t>
                      </a:r>
                      <a:r>
                        <a:rPr lang="en-US" sz="2367" b="false" i="false" u="none" strike="noStrike">
                          <a:solidFill>
                            <a:srgbClr val="FFFFFF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67" b="false" i="false" u="none" strike="noStrike">
                          <a:solidFill>
                            <a:srgbClr val="FFFFFF"/>
                          </a:solidFill>
                          <a:ea typeface="S-Core Dream 5 Medium"/>
                        </a:rPr>
                        <a:t>범위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E4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367" b="false" i="false" u="none" strike="noStrike">
                          <a:solidFill>
                            <a:srgbClr val="FFFFFF"/>
                          </a:solidFill>
                          <a:ea typeface="S-Core Dream 5 Medium"/>
                        </a:rPr>
                        <a:t>진척도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E4E"/>
                    </a:solidFill>
                  </a:tcPr>
                </a:tc>
              </a:tr>
              <a:tr h="116269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스프라이트</a:t>
                      </a: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수집</a:t>
                      </a: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및</a:t>
                      </a: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가공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배경</a:t>
                      </a: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, </a:t>
                      </a: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캐릭터</a:t>
                      </a: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, </a:t>
                      </a: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몬스터</a:t>
                      </a: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, </a:t>
                      </a: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사운드</a:t>
                      </a: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수집</a:t>
                      </a: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(4</a:t>
                      </a: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종</a:t>
                      </a: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4</a:t>
                      </a: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종</a:t>
                      </a: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완료</a:t>
                      </a: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(</a:t>
                      </a: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보스</a:t>
                      </a: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사운드</a:t>
                      </a: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제외</a:t>
                      </a: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90%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084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로비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화면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,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엔딩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화면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배경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,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게임시작버튼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,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조작법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버튼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,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게임종료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버튼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,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사운드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삽입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(5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종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5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종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완료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100%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94084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캐릭터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객체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제작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이동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,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공격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,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피격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,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사망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, idle,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사운드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삽입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(6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종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6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종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완료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100%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084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몬스터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객체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제작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이동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,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공격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,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피격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,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사망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, idle,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사운드삽입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(6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종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)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6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종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완료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(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보스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사운드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제외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90%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5221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몬스터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인공지능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배회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&amp;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캐릭터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인식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&amp;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캐릭터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추격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3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종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3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종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완료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100%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5165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경험치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및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캐릭터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전직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경험치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, 3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단계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전직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2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종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2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종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완료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100%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5165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스테이지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성장스테이지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2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개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,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보스스테이지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1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개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3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개</a:t>
                      </a: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구현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20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100%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2DFD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84400" y="304800"/>
            <a:ext cx="254000" cy="82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25800" y="304800"/>
            <a:ext cx="2540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54500" y="304800"/>
            <a:ext cx="2540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283200" y="304800"/>
            <a:ext cx="2540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11900" y="304800"/>
            <a:ext cx="2540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945600" y="304800"/>
            <a:ext cx="254000" cy="825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889500" y="2082800"/>
            <a:ext cx="15798800" cy="12573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ctr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373737"/>
                </a:solidFill>
                <a:latin typeface="paybooc Bold"/>
              </a:rPr>
              <a:t>Commit </a:t>
            </a:r>
            <a:r>
              <a:rPr lang="ko-KR" sz="6400" b="false" i="false" u="none" strike="noStrike">
                <a:solidFill>
                  <a:srgbClr val="373737"/>
                </a:solidFill>
                <a:ea typeface="paybooc Bold"/>
              </a:rPr>
              <a:t>통계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44700" y="2159000"/>
            <a:ext cx="1117600" cy="990600"/>
          </a:xfrm>
          <a:prstGeom prst="rect">
            <a:avLst/>
          </a:prstGeom>
        </p:spPr>
        <p:txBody>
          <a:bodyPr anchor="t" rtlCol="false" lIns="0" tIns="64347" rIns="0" bIns="0"/>
          <a:lstStyle/>
          <a:p>
            <a:pPr algn="ctr" lvl="0">
              <a:lnSpc>
                <a:spcPct val="99600"/>
              </a:lnSpc>
            </a:pPr>
            <a:r>
              <a:rPr lang="en" sz="5066" b="false" i="false" u="none" strike="noStrike">
                <a:solidFill>
                  <a:srgbClr val="FFFFFF"/>
                </a:solidFill>
                <a:latin typeface="paybooc ExtraBold"/>
              </a:rPr>
              <a:t>02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38300" y="4114800"/>
            <a:ext cx="12065000" cy="8318500"/>
          </a:xfrm>
          <a:prstGeom prst="rect">
            <a:avLst/>
          </a:prstGeom>
        </p:spPr>
      </p:pic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14706600" y="3835400"/>
          <a:ext cx="8039100" cy="8597900"/>
        </p:xfrm>
        <a:graphic>
          <a:graphicData uri="http://schemas.openxmlformats.org/drawingml/2006/table">
            <a:tbl>
              <a:tblPr/>
              <a:tblGrid>
                <a:gridCol w="4618299"/>
                <a:gridCol w="3424659"/>
              </a:tblGrid>
              <a:tr h="47189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367" b="false" i="false" u="none" strike="noStrike">
                          <a:solidFill>
                            <a:srgbClr val="FFFFFF"/>
                          </a:solidFill>
                          <a:ea typeface="S-Core Dream 5 Medium"/>
                        </a:rPr>
                        <a:t>주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E4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367" b="false" i="false" u="none" strike="noStrike">
                          <a:solidFill>
                            <a:srgbClr val="FFFFFF"/>
                          </a:solidFill>
                          <a:ea typeface="S-Core Dream 5 Medium"/>
                        </a:rPr>
                        <a:t>커밋</a:t>
                      </a:r>
                      <a:r>
                        <a:rPr lang="en-US" sz="2367" b="false" i="false" u="none" strike="noStrike">
                          <a:solidFill>
                            <a:srgbClr val="FFFFFF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67" b="false" i="false" u="none" strike="noStrike">
                          <a:solidFill>
                            <a:srgbClr val="FFFFFF"/>
                          </a:solidFill>
                          <a:ea typeface="S-Core Dream 5 Medium"/>
                        </a:rPr>
                        <a:t>횟수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E4E"/>
                    </a:solidFill>
                  </a:tcPr>
                </a:tc>
              </a:tr>
              <a:tr h="87786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Week of Oct 12 (1</a:t>
                      </a: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주차</a:t>
                      </a: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27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786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Week of Oct 19 (2</a:t>
                      </a: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주차</a:t>
                      </a: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19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786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Week of Oct 26 (3</a:t>
                      </a: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주차</a:t>
                      </a: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22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786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Week of Nov 2 (4</a:t>
                      </a: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주차</a:t>
                      </a: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18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786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Week of Nov 9 (5</a:t>
                      </a: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주차</a:t>
                      </a: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13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786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Week of Nov 16 (6</a:t>
                      </a: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주차</a:t>
                      </a: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21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786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Week of Nov 23 (7</a:t>
                      </a: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주차</a:t>
                      </a: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50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169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Week of Nov 30 (8</a:t>
                      </a: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주차</a:t>
                      </a: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23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956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Week of Dec 7 (9</a:t>
                      </a:r>
                      <a:r>
                        <a:rPr lang="ko-KR" sz="221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주차</a:t>
                      </a: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21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13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